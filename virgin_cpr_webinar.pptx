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0"/>
            <a:ext cx="11430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C300"/>
                </a:solidFill>
              </a:rPr>
              <a:t>Virgin CPR — Forex Mastery Workshop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3520440"/>
            <a:ext cx="11274552" cy="36576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365760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CCCCCC"/>
                </a:solidFill>
              </a:rPr>
              <a:t>5-Hour Live Webinar  |  From Zero to Execution  |  ₹4999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2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C300"/>
                </a:solidFill>
              </a:rPr>
              <a:t>What You Will Learn Today (Agenda)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74552" cy="36576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  Hour 1  →  Why CPR works — the math and the magnet 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276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  Hour 2  →  The 5 proven patterns — real charts, candle by candle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20824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  Hour 3  →  Live chart demo — mark up today's CPR together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14016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  Hour 4  →  Trade rules, SL placement, position sizing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072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  Hour 5  →  Trade simulation quiz + backtest proof + open Q&amp;A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00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  ──────────────────────────────────────────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5935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D47E"/>
                </a:solidFill>
              </a:rPr>
              <a:t>✅ You will leave with a complete entry checklist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0050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D47E"/>
                </a:solidFill>
              </a:rPr>
              <a:t>✅ You will leave with a 30-day practice journal template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4165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D47E"/>
                </a:solidFill>
              </a:rPr>
              <a:t>✅ Recording shared within 24 hours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6126480"/>
            <a:ext cx="11457432" cy="502920"/>
          </a:xfrm>
          <a:prstGeom prst="rect">
            <a:avLst/>
          </a:prstGeom>
          <a:solidFill>
            <a:srgbClr val="1A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144768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C300"/>
                </a:solidFill>
              </a:rPr>
              <a:t>💡  Keep your TradingView chart open throughout the session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2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C300"/>
                </a:solidFill>
              </a:rPr>
              <a:t>Before We Begin — Are You Ready?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74552" cy="36576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AA8FF"/>
                </a:solidFill>
              </a:rPr>
              <a:t>You need to know these basics: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  →  Read a candlestick chart (bullish, bearish, pin bar, engulfing)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848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  →  What is Support and Resistance (swing high / swing low)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78024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  →  What is Stop Loss (SL) and Take Profit (TP)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71216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  →  You have TradingView or MT5 open RIGHT NOW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644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  →  You know Asian / London / NY session times in IST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657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  ──────────────────────────────────────────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0507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4D4D"/>
                </a:solidFill>
              </a:rPr>
              <a:t>❌ If you don't know these — bookmark the recording and study the Glossary PDF first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6126480"/>
            <a:ext cx="11457432" cy="502920"/>
          </a:xfrm>
          <a:prstGeom prst="rect">
            <a:avLst/>
          </a:prstGeom>
          <a:solidFill>
            <a:srgbClr val="1A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6144768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C300"/>
                </a:solidFill>
              </a:rPr>
              <a:t>💡  Glossary PDF has been shared in the WhatsApp group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108960"/>
            <a:ext cx="12188952" cy="640080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</a:rPr>
              <a:t>HOUR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Why CPR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2A"/>
                </a:solidFill>
              </a:rPr>
              <a:t>The Math + The Magnet Concept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2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C300"/>
                </a:solidFill>
              </a:rPr>
              <a:t>The CPR Formula — Never Forget This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74552" cy="36576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3474720" cy="502920"/>
          </a:xfrm>
          <a:prstGeom prst="rect">
            <a:avLst/>
          </a:prstGeom>
          <a:solidFill>
            <a:srgbClr val="1A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AA8FF"/>
                </a:solidFill>
              </a:rPr>
              <a:t>Pivot  =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1371600"/>
            <a:ext cx="7589520" cy="502920"/>
          </a:xfrm>
          <a:prstGeom prst="rect">
            <a:avLst/>
          </a:prstGeom>
          <a:solidFill>
            <a:srgbClr val="0A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40" y="1417320"/>
            <a:ext cx="7406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(PDH + PDL + PDC)  ÷  3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029967"/>
            <a:ext cx="3474720" cy="502920"/>
          </a:xfrm>
          <a:prstGeom prst="rect">
            <a:avLst/>
          </a:prstGeom>
          <a:solidFill>
            <a:srgbClr val="1A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075687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AA8FF"/>
                </a:solidFill>
              </a:rPr>
              <a:t>BC     =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0" y="2029967"/>
            <a:ext cx="7589520" cy="502920"/>
          </a:xfrm>
          <a:prstGeom prst="rect">
            <a:avLst/>
          </a:prstGeom>
          <a:solidFill>
            <a:srgbClr val="0A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6240" y="2075687"/>
            <a:ext cx="7406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(PDH + PDL)  ÷  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688335"/>
            <a:ext cx="3474720" cy="502920"/>
          </a:xfrm>
          <a:prstGeom prst="rect">
            <a:avLst/>
          </a:prstGeom>
          <a:solidFill>
            <a:srgbClr val="1A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734055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AA8FF"/>
                </a:solidFill>
              </a:rPr>
              <a:t>TC     =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0" y="2688335"/>
            <a:ext cx="7589520" cy="502920"/>
          </a:xfrm>
          <a:prstGeom prst="rect">
            <a:avLst/>
          </a:prstGeom>
          <a:solidFill>
            <a:srgbClr val="0A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6240" y="2734055"/>
            <a:ext cx="7406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2 × Pivot  −  BC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346703"/>
            <a:ext cx="3474720" cy="502920"/>
          </a:xfrm>
          <a:prstGeom prst="rect">
            <a:avLst/>
          </a:prstGeom>
          <a:solidFill>
            <a:srgbClr val="1A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392423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AA8FF"/>
                </a:solidFill>
              </a:rPr>
              <a:t>Band   =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0" y="3346703"/>
            <a:ext cx="7589520" cy="502920"/>
          </a:xfrm>
          <a:prstGeom prst="rect">
            <a:avLst/>
          </a:prstGeom>
          <a:solidFill>
            <a:srgbClr val="0A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6240" y="3392423"/>
            <a:ext cx="7406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[ min(TC, BC)  →  max(TC, BC) 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005071"/>
            <a:ext cx="3474720" cy="502920"/>
          </a:xfrm>
          <a:prstGeom prst="rect">
            <a:avLst/>
          </a:prstGeom>
          <a:solidFill>
            <a:srgbClr val="1A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050791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AA8FF"/>
                </a:solidFill>
              </a:rPr>
              <a:t>Width  =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0" y="4005071"/>
            <a:ext cx="7589520" cy="502920"/>
          </a:xfrm>
          <a:prstGeom prst="rect">
            <a:avLst/>
          </a:prstGeom>
          <a:solidFill>
            <a:srgbClr val="0A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06240" y="4050791"/>
            <a:ext cx="7406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TCPR  −  BCPR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5760720"/>
            <a:ext cx="11457432" cy="685800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58064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D1B2A"/>
                </a:solidFill>
              </a:rPr>
              <a:t>VIRGIN  =  The band has NEVER been touched since it formed.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2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C300"/>
                </a:solidFill>
              </a:rPr>
              <a:t>What Makes a CPR 'Virgin'?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74552" cy="36576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  Virgin = The band has NEVER been touched since it formed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276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  Touch condition:   candle_high ≥ BCPR   AND   candle_low ≤ TCPR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20824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  ──────────────────────────────────────────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14016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AA8FF"/>
                </a:solidFill>
              </a:rPr>
              <a:t>Why it matters: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71216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  →  Institutions place orders at CPR zones at the START of the 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644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  →  If price never visits that zone → those orders are STILL sitting there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657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  →  When price finally arrives → the reaction is sharp and fast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050791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  ──────────────────────────────────────────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443983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AA8FF"/>
                </a:solidFill>
              </a:rPr>
              <a:t>Band age rule: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901183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D47E"/>
                </a:solidFill>
              </a:rPr>
              <a:t>✅ 3-day-old virgin band  →  VERY strong reaction expected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312664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D47E"/>
                </a:solidFill>
              </a:rPr>
              <a:t>✅ 1-day-old virgin band  →  moderate reaction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6126480"/>
            <a:ext cx="11457432" cy="502920"/>
          </a:xfrm>
          <a:prstGeom prst="rect">
            <a:avLst/>
          </a:prstGeom>
          <a:solidFill>
            <a:srgbClr val="1A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6144768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C300"/>
                </a:solidFill>
              </a:rPr>
              <a:t>💡  "A Virgin CPR is a promise the market has not kept yet — it always keeps its promises."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2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C300"/>
                </a:solidFill>
              </a:rPr>
              <a:t>Band Width — Tells You What Kind of Day to Expect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74552" cy="36576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AA8FF"/>
                </a:solidFill>
              </a:rPr>
              <a:t>Narrow CPR (width &lt; ATR)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D47E"/>
                </a:solidFill>
              </a:rPr>
              <a:t>✅ Market is likely to TREND strongly 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03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D47E"/>
                </a:solidFill>
              </a:rPr>
              <a:t>✅ Price approaches band → sharp rejection or clean breakout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14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D47E"/>
                </a:solidFill>
              </a:rPr>
              <a:t>✅ Best day for Pattern A (Approach &amp; Snap) and Pattern B (False Break)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26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  ──────────────────────────────────────────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31927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AA8FF"/>
                </a:solidFill>
              </a:rPr>
              <a:t>Wide CPR (width &gt; ATR)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7764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  →  Market is likely to RANGE or consolidate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169664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  →  Price may chop inside the band — harder to trade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562856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  →  Best for Pattern C (Band as Launchpad) with order flow confirmation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9560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  ──────────────────────────────────────────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349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4D4D"/>
                </a:solidFill>
              </a:rPr>
              <a:t>⚠️  Always check band width BEFORE the session — not during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6126480"/>
            <a:ext cx="11457432" cy="502920"/>
          </a:xfrm>
          <a:prstGeom prst="rect">
            <a:avLst/>
          </a:prstGeom>
          <a:solidFill>
            <a:srgbClr val="1A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6144768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C300"/>
                </a:solidFill>
              </a:rPr>
              <a:t>💡  Narrow CPR = trending day expected. Wide CPR = be careful, use order flow filter.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108960"/>
            <a:ext cx="12188952" cy="640080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</a:rPr>
              <a:t>HOUR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The 5 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2A"/>
                </a:solidFill>
              </a:rPr>
              <a:t>Real Charts · Candle by Candle · Entry &amp; Exit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2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C300"/>
                </a:solidFill>
              </a:rPr>
              <a:t>Pattern A — Approach and Snap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74552" cy="36576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2011680" cy="457200"/>
          </a:xfrm>
          <a:prstGeom prst="rect">
            <a:avLst/>
          </a:prstGeom>
          <a:solidFill>
            <a:srgbClr val="4A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07008"/>
            <a:ext cx="1920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XAUUSD · M15 · 24-Feb-2026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11274552" cy="502920"/>
          </a:xfrm>
          <a:prstGeom prst="rect">
            <a:avLst/>
          </a:prstGeom>
          <a:solidFill>
            <a:srgbClr val="1A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856231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AA8FF"/>
                </a:solidFill>
              </a:rPr>
              <a:t>Key Candle:  13:15 IST — Bearish pin bar. Wick enters band, close BELOW BCPR.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514600"/>
            <a:ext cx="11274552" cy="502920"/>
          </a:xfrm>
          <a:prstGeom prst="rect">
            <a:avLst/>
          </a:prstGeom>
          <a:solidFill>
            <a:srgbClr val="003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542032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7E"/>
                </a:solidFill>
              </a:rPr>
              <a:t>Entry Rule:  Sell at close of rejection candle. SL = 5 pts above TCPR. Target = PDL area.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200400"/>
            <a:ext cx="11274552" cy="502920"/>
          </a:xfrm>
          <a:prstGeom prst="rect">
            <a:avLst/>
          </a:prstGeom>
          <a:solidFill>
            <a:srgbClr val="33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227832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A500"/>
                </a:solidFill>
              </a:rPr>
              <a:t>Result:  Price fell from 2919.20 → 2905.00 by 16:00 IST.  +14.2 pts = 2R 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886200"/>
            <a:ext cx="11274552" cy="2514600"/>
          </a:xfrm>
          <a:prstGeom prst="rect">
            <a:avLst/>
          </a:prstGeom>
          <a:solidFill>
            <a:srgbClr val="0A141F"/>
          </a:solidFill>
          <a:ln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84632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557799"/>
                </a:solidFill>
              </a:rPr>
              <a:t>[ Paste your TradingView chart screenshot here 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2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C300"/>
                </a:solidFill>
              </a:rPr>
              <a:t>Pattern B — False Break + Trap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74552" cy="36576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2011680" cy="457200"/>
          </a:xfrm>
          <a:prstGeom prst="rect">
            <a:avLst/>
          </a:prstGeom>
          <a:solidFill>
            <a:srgbClr val="4A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07008"/>
            <a:ext cx="1920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EURUSD · M15 · 25-Feb-2026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11274552" cy="502920"/>
          </a:xfrm>
          <a:prstGeom prst="rect">
            <a:avLst/>
          </a:prstGeom>
          <a:solidFill>
            <a:srgbClr val="1A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856231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AA8FF"/>
                </a:solidFill>
              </a:rPr>
              <a:t>Key Candle:  12:45 — Wick ABOVE TCPR, but candle CLOSED back inside band (retail trapped).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514600"/>
            <a:ext cx="11274552" cy="502920"/>
          </a:xfrm>
          <a:prstGeom prst="rect">
            <a:avLst/>
          </a:prstGeom>
          <a:solidFill>
            <a:srgbClr val="003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542032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7E"/>
                </a:solidFill>
              </a:rPr>
              <a:t>Entry Rule:  Wait for next candle to close BELOW BCPR. Sell at that close.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200400"/>
            <a:ext cx="11274552" cy="502920"/>
          </a:xfrm>
          <a:prstGeom prst="rect">
            <a:avLst/>
          </a:prstGeom>
          <a:solidFill>
            <a:srgbClr val="33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227832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A500"/>
                </a:solidFill>
              </a:rPr>
              <a:t>Result:  Price fell from 1.0470 → 1.0442.  +28 pips = 1.4R 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886200"/>
            <a:ext cx="11274552" cy="2514600"/>
          </a:xfrm>
          <a:prstGeom prst="rect">
            <a:avLst/>
          </a:prstGeom>
          <a:solidFill>
            <a:srgbClr val="0A141F"/>
          </a:solidFill>
          <a:ln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84632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557799"/>
                </a:solidFill>
              </a:rPr>
              <a:t>[ Paste your TradingView chart screenshot here 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2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C300"/>
                </a:solidFill>
              </a:rPr>
              <a:t>Pattern C — Band as Launchpad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74552" cy="36576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2011680" cy="457200"/>
          </a:xfrm>
          <a:prstGeom prst="rect">
            <a:avLst/>
          </a:prstGeom>
          <a:solidFill>
            <a:srgbClr val="4A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07008"/>
            <a:ext cx="1920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GBPUSD · M15 · 26-Feb-2026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11274552" cy="502920"/>
          </a:xfrm>
          <a:prstGeom prst="rect">
            <a:avLst/>
          </a:prstGeom>
          <a:solidFill>
            <a:srgbClr val="1A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856231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AA8FF"/>
                </a:solidFill>
              </a:rPr>
              <a:t>Key Candle:  13:00 — Strong bullish candle. Close ABOVE TCPR after order flow showed ACCUMULATION.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514600"/>
            <a:ext cx="11274552" cy="502920"/>
          </a:xfrm>
          <a:prstGeom prst="rect">
            <a:avLst/>
          </a:prstGeom>
          <a:solidFill>
            <a:srgbClr val="003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542032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7E"/>
                </a:solidFill>
              </a:rPr>
              <a:t>Entry Rule:  Buy at close above TCPR. SL = below mid-band − 5 pips.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200400"/>
            <a:ext cx="11274552" cy="502920"/>
          </a:xfrm>
          <a:prstGeom prst="rect">
            <a:avLst/>
          </a:prstGeom>
          <a:solidFill>
            <a:srgbClr val="33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227832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A500"/>
                </a:solidFill>
              </a:rPr>
              <a:t>Result:  Price rallied from 1.2601 → 1.2648.  +47 pips = 2.9R 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886200"/>
            <a:ext cx="11274552" cy="2514600"/>
          </a:xfrm>
          <a:prstGeom prst="rect">
            <a:avLst/>
          </a:prstGeom>
          <a:solidFill>
            <a:srgbClr val="0A141F"/>
          </a:solidFill>
          <a:ln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84632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557799"/>
                </a:solidFill>
              </a:rPr>
              <a:t>[ Paste your TradingView chart screenshot here 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2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C300"/>
                </a:solidFill>
              </a:rPr>
              <a:t>Pattern D — Stacked Bands Compression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74552" cy="36576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2011680" cy="457200"/>
          </a:xfrm>
          <a:prstGeom prst="rect">
            <a:avLst/>
          </a:prstGeom>
          <a:solidFill>
            <a:srgbClr val="4A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07008"/>
            <a:ext cx="1920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USDJPY · M15 · 27-Feb-2026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11274552" cy="502920"/>
          </a:xfrm>
          <a:prstGeom prst="rect">
            <a:avLst/>
          </a:prstGeom>
          <a:solidFill>
            <a:srgbClr val="1A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856231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AA8FF"/>
                </a:solidFill>
              </a:rPr>
              <a:t>Key Candle:  Two virgin bands only 6.5 pips apart. Price chops between them 2.5 hours.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514600"/>
            <a:ext cx="11274552" cy="502920"/>
          </a:xfrm>
          <a:prstGeom prst="rect">
            <a:avLst/>
          </a:prstGeom>
          <a:solidFill>
            <a:srgbClr val="003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542032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7E"/>
                </a:solidFill>
              </a:rPr>
              <a:t>Entry Rule:  NO TRADE inside compression zone. Enter only when price exits BELOW lower band.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200400"/>
            <a:ext cx="11274552" cy="502920"/>
          </a:xfrm>
          <a:prstGeom prst="rect">
            <a:avLst/>
          </a:prstGeom>
          <a:solidFill>
            <a:srgbClr val="33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227832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A500"/>
                </a:solidFill>
              </a:rPr>
              <a:t>Result:  Sell at 152.190. Price fell to 151.820.  +37 pips = 1.9R 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886200"/>
            <a:ext cx="11274552" cy="2514600"/>
          </a:xfrm>
          <a:prstGeom prst="rect">
            <a:avLst/>
          </a:prstGeom>
          <a:solidFill>
            <a:srgbClr val="0A141F"/>
          </a:solidFill>
          <a:ln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84632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557799"/>
                </a:solidFill>
              </a:rPr>
              <a:t>[ Paste your TradingView chart screenshot here 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2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C300"/>
                </a:solidFill>
              </a:rPr>
              <a:t>Pattern E — Morning Gap Into Band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74552" cy="36576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2011680" cy="457200"/>
          </a:xfrm>
          <a:prstGeom prst="rect">
            <a:avLst/>
          </a:prstGeom>
          <a:solidFill>
            <a:srgbClr val="4A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07008"/>
            <a:ext cx="1920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XAUUSD · M15 · 28-Feb-2026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11274552" cy="502920"/>
          </a:xfrm>
          <a:prstGeom prst="rect">
            <a:avLst/>
          </a:prstGeom>
          <a:solidFill>
            <a:srgbClr val="1A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856231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AA8FF"/>
                </a:solidFill>
              </a:rPr>
              <a:t>Key Candle:  Overnight gap. Price opened BELOW the virgin band. Band is 7.4 pts above open.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514600"/>
            <a:ext cx="11274552" cy="502920"/>
          </a:xfrm>
          <a:prstGeom prst="rect">
            <a:avLst/>
          </a:prstGeom>
          <a:solidFill>
            <a:srgbClr val="003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542032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7E"/>
                </a:solidFill>
              </a:rPr>
              <a:t>Entry Rule:  DO NOT CHASE the gap. Wait for price to approach band and show rejection/breakout.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200400"/>
            <a:ext cx="11274552" cy="502920"/>
          </a:xfrm>
          <a:prstGeom prst="rect">
            <a:avLst/>
          </a:prstGeom>
          <a:solidFill>
            <a:srgbClr val="33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227832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A500"/>
                </a:solidFill>
              </a:rPr>
              <a:t>Result:  Patience play — wait for London session to bring price to the band.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886200"/>
            <a:ext cx="11274552" cy="2514600"/>
          </a:xfrm>
          <a:prstGeom prst="rect">
            <a:avLst/>
          </a:prstGeom>
          <a:solidFill>
            <a:srgbClr val="0A141F"/>
          </a:solidFill>
          <a:ln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84632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557799"/>
                </a:solidFill>
              </a:rPr>
              <a:t>[ Paste your TradingView chart screenshot here 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108960"/>
            <a:ext cx="12188952" cy="640080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</a:rPr>
              <a:t>HOUR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Live Chart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2A"/>
                </a:solidFill>
              </a:rPr>
              <a:t>Mark Today's CPR Together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2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C300"/>
                </a:solidFill>
              </a:rPr>
              <a:t>Live Chart — Step by Step (Do This With Me)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74552" cy="36576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  Step 1  →  Open TradingView. Go to your pair (XAUUSD or EURUSD).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276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  Step 2  →  Switch to Daily chart. Note: PDH, PDL, PDC from yesterday.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20824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  Step 3  →  Calculate Pivot, BC, TC using the formula (or use the indicator).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14016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  Step 4  →  Draw a rectangle on the band — mark BCPR and TCPR.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072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  Step 5  →  Check: has ANY candle since market open touched this band?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00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  ──────────────────────────────────────────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5935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D47E"/>
                </a:solidFill>
              </a:rPr>
              <a:t>✅ If NO touch found → you have a LIVE Virgin CPR right now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0050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D47E"/>
                </a:solidFill>
              </a:rPr>
              <a:t>✅ Note the band width — narrow or wide?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4165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D47E"/>
                </a:solidFill>
              </a:rPr>
              <a:t>✅ Note the band age — how many days old?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8280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  ──────────────────────────────────────────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221224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4D4D"/>
                </a:solidFill>
              </a:rPr>
              <a:t>⚠️  Now watch it. Don't touch it until London open.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6126480"/>
            <a:ext cx="11457432" cy="502920"/>
          </a:xfrm>
          <a:prstGeom prst="rect">
            <a:avLst/>
          </a:prstGeom>
          <a:solidFill>
            <a:srgbClr val="1A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6144768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C300"/>
                </a:solidFill>
              </a:rPr>
              <a:t>💡  Every student should have their own chart marked by end of this hour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108960"/>
            <a:ext cx="12188952" cy="640080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</a:rPr>
              <a:t>HOUR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Trade Rules &amp;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2A"/>
                </a:solidFill>
              </a:rPr>
              <a:t>Entry · SL · Position Size · Avoid List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2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C300"/>
                </a:solidFill>
              </a:rPr>
              <a:t>Trade Entry Checklist — Every Single Trade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74552" cy="36576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2286000" cy="411480"/>
          </a:xfrm>
          <a:prstGeom prst="rect">
            <a:avLst/>
          </a:prstGeom>
          <a:solidFill>
            <a:srgbClr val="1A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25296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C300"/>
                </a:solidFill>
              </a:rPr>
              <a:t>Checklist Item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2697480" y="1188720"/>
            <a:ext cx="6217920" cy="411480"/>
          </a:xfrm>
          <a:prstGeom prst="rect">
            <a:avLst/>
          </a:prstGeom>
          <a:solidFill>
            <a:srgbClr val="1A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0" y="1225296"/>
            <a:ext cx="6126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C300"/>
                </a:solidFill>
              </a:rPr>
              <a:t>Rule</a:t>
            </a:r>
          </a:p>
        </p:txBody>
      </p:sp>
      <p:sp>
        <p:nvSpPr>
          <p:cNvPr id="9" name="Rectangle 8"/>
          <p:cNvSpPr/>
          <p:nvPr/>
        </p:nvSpPr>
        <p:spPr>
          <a:xfrm>
            <a:off x="8961120" y="1188720"/>
            <a:ext cx="3200400" cy="411480"/>
          </a:xfrm>
          <a:prstGeom prst="rect">
            <a:avLst/>
          </a:prstGeom>
          <a:solidFill>
            <a:srgbClr val="1A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06840" y="1225296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C300"/>
                </a:solidFill>
              </a:rPr>
              <a:t>Note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627632"/>
            <a:ext cx="2286000" cy="402336"/>
          </a:xfrm>
          <a:prstGeom prst="rect">
            <a:avLst/>
          </a:prstGeom>
          <a:solidFill>
            <a:srgbClr val="0D1B2A"/>
          </a:solidFill>
          <a:ln>
            <a:solidFill>
              <a:srgbClr val="1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1664208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Session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97480" y="1627632"/>
            <a:ext cx="6217920" cy="402336"/>
          </a:xfrm>
          <a:prstGeom prst="rect">
            <a:avLst/>
          </a:prstGeom>
          <a:solidFill>
            <a:srgbClr val="0D1B2A"/>
          </a:solidFill>
          <a:ln>
            <a:solidFill>
              <a:srgbClr val="1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0" y="1664208"/>
            <a:ext cx="6126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London open (12:30 IST) or NY open (18:30 IST)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61120" y="1627632"/>
            <a:ext cx="3200400" cy="402336"/>
          </a:xfrm>
          <a:prstGeom prst="rect">
            <a:avLst/>
          </a:prstGeom>
          <a:solidFill>
            <a:srgbClr val="0D1B2A"/>
          </a:solidFill>
          <a:ln>
            <a:solidFill>
              <a:srgbClr val="1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06840" y="1664208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4D4D"/>
                </a:solidFill>
              </a:rPr>
              <a:t>❌ Never Asian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057400"/>
            <a:ext cx="2286000" cy="402336"/>
          </a:xfrm>
          <a:prstGeom prst="rect">
            <a:avLst/>
          </a:prstGeom>
          <a:solidFill>
            <a:srgbClr val="12273A"/>
          </a:solidFill>
          <a:ln>
            <a:solidFill>
              <a:srgbClr val="1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2093976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Band Status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97480" y="2057400"/>
            <a:ext cx="6217920" cy="402336"/>
          </a:xfrm>
          <a:prstGeom prst="rect">
            <a:avLst/>
          </a:prstGeom>
          <a:solidFill>
            <a:srgbClr val="12273A"/>
          </a:solidFill>
          <a:ln>
            <a:solidFill>
              <a:srgbClr val="1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0" y="2093976"/>
            <a:ext cx="6126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Must still be VIRGIN — zero touches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61120" y="2057400"/>
            <a:ext cx="3200400" cy="402336"/>
          </a:xfrm>
          <a:prstGeom prst="rect">
            <a:avLst/>
          </a:prstGeom>
          <a:solidFill>
            <a:srgbClr val="12273A"/>
          </a:solidFill>
          <a:ln>
            <a:solidFill>
              <a:srgbClr val="1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06840" y="2093976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4D4D"/>
                </a:solidFill>
              </a:rPr>
              <a:t>❌ Touched = skip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2487168"/>
            <a:ext cx="2286000" cy="402336"/>
          </a:xfrm>
          <a:prstGeom prst="rect">
            <a:avLst/>
          </a:prstGeom>
          <a:solidFill>
            <a:srgbClr val="0D1B2A"/>
          </a:solidFill>
          <a:ln>
            <a:solidFill>
              <a:srgbClr val="1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2523744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Band Age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697480" y="2487168"/>
            <a:ext cx="6217920" cy="402336"/>
          </a:xfrm>
          <a:prstGeom prst="rect">
            <a:avLst/>
          </a:prstGeom>
          <a:solidFill>
            <a:srgbClr val="0D1B2A"/>
          </a:solidFill>
          <a:ln>
            <a:solidFill>
              <a:srgbClr val="1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0" y="2523744"/>
            <a:ext cx="6126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Older band = stronger reaction (3-day &gt; 1-day)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61120" y="2487168"/>
            <a:ext cx="3200400" cy="402336"/>
          </a:xfrm>
          <a:prstGeom prst="rect">
            <a:avLst/>
          </a:prstGeom>
          <a:solidFill>
            <a:srgbClr val="0D1B2A"/>
          </a:solidFill>
          <a:ln>
            <a:solidFill>
              <a:srgbClr val="1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06840" y="2523744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D47E"/>
                </a:solidFill>
              </a:rPr>
              <a:t>✅ Note the date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2916935"/>
            <a:ext cx="2286000" cy="402336"/>
          </a:xfrm>
          <a:prstGeom prst="rect">
            <a:avLst/>
          </a:prstGeom>
          <a:solidFill>
            <a:srgbClr val="12273A"/>
          </a:solidFill>
          <a:ln>
            <a:solidFill>
              <a:srgbClr val="1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2953511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Entry candle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697480" y="2916935"/>
            <a:ext cx="6217920" cy="402336"/>
          </a:xfrm>
          <a:prstGeom prst="rect">
            <a:avLst/>
          </a:prstGeom>
          <a:solidFill>
            <a:srgbClr val="12273A"/>
          </a:solidFill>
          <a:ln>
            <a:solidFill>
              <a:srgbClr val="1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0" y="2953511"/>
            <a:ext cx="6126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Rejection pin bar OR engulfing close outside band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961120" y="2916935"/>
            <a:ext cx="3200400" cy="402336"/>
          </a:xfrm>
          <a:prstGeom prst="rect">
            <a:avLst/>
          </a:prstGeom>
          <a:solidFill>
            <a:srgbClr val="12273A"/>
          </a:solidFill>
          <a:ln>
            <a:solidFill>
              <a:srgbClr val="1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06840" y="2953511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4D4D"/>
                </a:solidFill>
              </a:rPr>
              <a:t>❌ No inside-bar entry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3346703"/>
            <a:ext cx="2286000" cy="402336"/>
          </a:xfrm>
          <a:prstGeom prst="rect">
            <a:avLst/>
          </a:prstGeom>
          <a:solidFill>
            <a:srgbClr val="0D1B2A"/>
          </a:solidFill>
          <a:ln>
            <a:solidFill>
              <a:srgbClr val="1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80" y="3383279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Stop Loss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697480" y="3346703"/>
            <a:ext cx="6217920" cy="402336"/>
          </a:xfrm>
          <a:prstGeom prst="rect">
            <a:avLst/>
          </a:prstGeom>
          <a:solidFill>
            <a:srgbClr val="0D1B2A"/>
          </a:solidFill>
          <a:ln>
            <a:solidFill>
              <a:srgbClr val="1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43200" y="3383279"/>
            <a:ext cx="6126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5 pips above TCPR (sell) or below BCPR (buy)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961120" y="3346703"/>
            <a:ext cx="3200400" cy="402336"/>
          </a:xfrm>
          <a:prstGeom prst="rect">
            <a:avLst/>
          </a:prstGeom>
          <a:solidFill>
            <a:srgbClr val="0D1B2A"/>
          </a:solidFill>
          <a:ln>
            <a:solidFill>
              <a:srgbClr val="1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06840" y="3383279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D47E"/>
                </a:solidFill>
              </a:rPr>
              <a:t>✅ Fixed rule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3776471"/>
            <a:ext cx="2286000" cy="402336"/>
          </a:xfrm>
          <a:prstGeom prst="rect">
            <a:avLst/>
          </a:prstGeom>
          <a:solidFill>
            <a:srgbClr val="12273A"/>
          </a:solidFill>
          <a:ln>
            <a:solidFill>
              <a:srgbClr val="1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80" y="3813047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Position Size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697480" y="3776471"/>
            <a:ext cx="6217920" cy="402336"/>
          </a:xfrm>
          <a:prstGeom prst="rect">
            <a:avLst/>
          </a:prstGeom>
          <a:solidFill>
            <a:srgbClr val="12273A"/>
          </a:solidFill>
          <a:ln>
            <a:solidFill>
              <a:srgbClr val="1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43200" y="3813047"/>
            <a:ext cx="6126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Risk max 1% of account per trade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961120" y="3776471"/>
            <a:ext cx="3200400" cy="402336"/>
          </a:xfrm>
          <a:prstGeom prst="rect">
            <a:avLst/>
          </a:prstGeom>
          <a:solidFill>
            <a:srgbClr val="12273A"/>
          </a:solidFill>
          <a:ln>
            <a:solidFill>
              <a:srgbClr val="1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006840" y="3813047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D47E"/>
                </a:solidFill>
              </a:rPr>
              <a:t>✅ Calculate before entry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4206239"/>
            <a:ext cx="2286000" cy="402336"/>
          </a:xfrm>
          <a:prstGeom prst="rect">
            <a:avLst/>
          </a:prstGeom>
          <a:solidFill>
            <a:srgbClr val="0D1B2A"/>
          </a:solidFill>
          <a:ln>
            <a:solidFill>
              <a:srgbClr val="1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11480" y="4242815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News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697480" y="4206239"/>
            <a:ext cx="6217920" cy="402336"/>
          </a:xfrm>
          <a:prstGeom prst="rect">
            <a:avLst/>
          </a:prstGeom>
          <a:solidFill>
            <a:srgbClr val="0D1B2A"/>
          </a:solidFill>
          <a:ln>
            <a:solidFill>
              <a:srgbClr val="1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743200" y="4242815"/>
            <a:ext cx="6126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No trades 15 min before/after high-impact news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961120" y="4206239"/>
            <a:ext cx="3200400" cy="402336"/>
          </a:xfrm>
          <a:prstGeom prst="rect">
            <a:avLst/>
          </a:prstGeom>
          <a:solidFill>
            <a:srgbClr val="0D1B2A"/>
          </a:solidFill>
          <a:ln>
            <a:solidFill>
              <a:srgbClr val="1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006840" y="4242815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4D4D"/>
                </a:solidFill>
              </a:rPr>
              <a:t>❌ Skip news candles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2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C300"/>
                </a:solidFill>
              </a:rPr>
              <a:t>Position Sizing — Protect Your Account First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74552" cy="36576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AA8FF"/>
                </a:solidFill>
              </a:rPr>
              <a:t>The 1% Rule: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  Risk = Account Balance × 1%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848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  Example: ₹50,000 account → Risk per trade = ₹500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78024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  ──────────────────────────────────────────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71216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AA8FF"/>
                </a:solidFill>
              </a:rPr>
              <a:t>Lot Size Formula: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328416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  Lot Size  =  Risk Amount  ÷  (SL in pips × Pip Value)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7216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  Example (EURUSD, SL = 20 pips, pip value = ₹85):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114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  Lot Size  =  500  ÷  (20 × 85)  =  0.29 lots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5079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  ──────────────────────────────────────────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901183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4D4D"/>
                </a:solidFill>
              </a:rPr>
              <a:t>❌ Never increase lot size to recover a loss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312664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4D4D"/>
                </a:solidFill>
              </a:rPr>
              <a:t>❌ Never move SL further away after entry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724144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D47E"/>
                </a:solidFill>
              </a:rPr>
              <a:t>✅ Calculate BEFORE you click Buy/Sell — not after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6126480"/>
            <a:ext cx="11457432" cy="502920"/>
          </a:xfrm>
          <a:prstGeom prst="rect">
            <a:avLst/>
          </a:prstGeom>
          <a:solidFill>
            <a:srgbClr val="1A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6144768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C300"/>
                </a:solidFill>
              </a:rPr>
              <a:t>💡  Use the position size calculator in the shared Excel sheet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2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C300"/>
                </a:solidFill>
              </a:rPr>
              <a:t>When NOT to Trade — Save Yourself First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74552" cy="36576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4D4D"/>
                </a:solidFill>
              </a:rPr>
              <a:t>❌ During Asian session (05:00–12:30 IST) — low volume, fake moves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4D4D"/>
                </a:solidFill>
              </a:rPr>
              <a:t>❌ Inside a stacked bands compression zone — price will chop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57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4D4D"/>
                </a:solidFill>
              </a:rPr>
              <a:t>❌ 15 minutes before / after high-impact news (NFP, CPI, Fed rate)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68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4D4D"/>
                </a:solidFill>
              </a:rPr>
              <a:t>❌ When the band has already been touched today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80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4D4D"/>
                </a:solidFill>
              </a:rPr>
              <a:t>❌ When band width is extremely wide (&gt;3× ATR) — no clean reaction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91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4D4D"/>
                </a:solidFill>
              </a:rPr>
              <a:t>❌ On Fridays after 18:30 IST — weekend gap risk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703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  ──────────────────────────────────────────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09651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AA8FF"/>
                </a:solidFill>
              </a:rPr>
              <a:t>The hardest skill in trading: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55371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D47E"/>
                </a:solidFill>
              </a:rPr>
              <a:t>✅ Doing nothing is a valid trade decision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9651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D47E"/>
                </a:solidFill>
              </a:rPr>
              <a:t>✅ Preserve capital → live to trade another day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6126480"/>
            <a:ext cx="11457432" cy="502920"/>
          </a:xfrm>
          <a:prstGeom prst="rect">
            <a:avLst/>
          </a:prstGeom>
          <a:solidFill>
            <a:srgbClr val="1A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144768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C300"/>
                </a:solidFill>
              </a:rPr>
              <a:t>💡  Most losses come from trading when there is NO setup. Patience is the strategy.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108960"/>
            <a:ext cx="12188952" cy="640080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</a:rPr>
              <a:t>HOUR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Simulation + Proof + Q&amp;A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2A"/>
                </a:solidFill>
              </a:rPr>
              <a:t>Test Your Knowledge · Backtest Results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2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C300"/>
                </a:solidFill>
              </a:rPr>
              <a:t>Trade Simulation Quiz — You Decide First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74552" cy="36576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  I will show you 3 historical charts.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276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  For each chart, answer BEFORE I reveal the outcome: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20824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  ──────────────────────────────────────────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14016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AA8FF"/>
                </a:solidFill>
              </a:rPr>
              <a:t>Question 1: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71216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  →  Is the CPR virgin?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644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  →  What pattern do you see?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657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  →  Do you enter? If yes — Buy or Sell?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050791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  →  Where is your SL?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443983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  ──────────────────────────────────────────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837175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D47E"/>
                </a:solidFill>
              </a:rPr>
              <a:t>✅ Compare your answer with the actual trade outcome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248655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D47E"/>
                </a:solidFill>
              </a:rPr>
              <a:t>✅ Scoring: 3/3 = you are ready. 2/3 = one more week of paper trading. 1/3 = replay Hour 2.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6126480"/>
            <a:ext cx="11457432" cy="502920"/>
          </a:xfrm>
          <a:prstGeom prst="rect">
            <a:avLst/>
          </a:prstGeom>
          <a:solidFill>
            <a:srgbClr val="1A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6144768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C300"/>
                </a:solidFill>
              </a:rPr>
              <a:t>💡  This is how you know if you have truly understood the strategy — not just watched it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2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C300"/>
                </a:solidFill>
              </a:rPr>
              <a:t>Backtest Results — The Proof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74552" cy="36576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AA8FF"/>
                </a:solidFill>
              </a:rPr>
              <a:t>Feb 2026 — 5-Day Study (5 pairs)::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  Total setups identified  : 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848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  Valid virgin setups      : 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78024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  Trades taken (per rules) : 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71216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  Winners                  :  6   (75% win rate)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644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  Average R on winners     :  2.1R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657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  Average R on losers      :  −1.0R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0507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  ──────────────────────────────────────────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443984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AA8FF"/>
                </a:solidFill>
              </a:rPr>
              <a:t>Net result over 5 days:  +8.6R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901184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D47E"/>
                </a:solidFill>
              </a:rPr>
              <a:t>✅ On ₹50,000 account at 1% risk  →  +₹4,300 in 5 trading days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312664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  ──────────────────────────────────────────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705856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4D4D"/>
                </a:solidFill>
              </a:rPr>
              <a:t>⚠️  Past results do not guarantee future performance.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117336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4D4D"/>
                </a:solidFill>
              </a:rPr>
              <a:t>⚠️  These numbers are from rule-based backtesting, not live trading.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6126480"/>
            <a:ext cx="11457432" cy="502920"/>
          </a:xfrm>
          <a:prstGeom prst="rect">
            <a:avLst/>
          </a:prstGeom>
          <a:solidFill>
            <a:srgbClr val="1A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6144768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C300"/>
                </a:solidFill>
              </a:rPr>
              <a:t>💡  The edge comes from FOLLOWING THE RULES — not from every single trade winning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88952" cy="1554480"/>
          </a:xfrm>
          <a:prstGeom prst="rect">
            <a:avLst/>
          </a:prstGeom>
          <a:solidFill>
            <a:srgbClr val="0A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54864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C300"/>
                </a:solidFill>
              </a:rPr>
              <a:t>Your Next 7 Days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00200"/>
            <a:ext cx="11274552" cy="36576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11274552" cy="475488"/>
          </a:xfrm>
          <a:prstGeom prst="rect">
            <a:avLst/>
          </a:prstGeom>
          <a:solidFill>
            <a:srgbClr val="12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83664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Day 1–2  →  Calculate CPR manually for XAUUSD, EURUSD, GBPUSD every morning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395728"/>
            <a:ext cx="11274552" cy="475488"/>
          </a:xfrm>
          <a:prstGeom prst="rect">
            <a:avLst/>
          </a:prstGeom>
          <a:solidFill>
            <a:srgbClr val="12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45059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Day 3–4  →  Mark virgin bands on your chart — paper trade, no real money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962656"/>
            <a:ext cx="11274552" cy="475488"/>
          </a:xfrm>
          <a:prstGeom prst="rect">
            <a:avLst/>
          </a:prstGeom>
          <a:solidFill>
            <a:srgbClr val="12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301752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Day 5–6  →  Wait for Pattern A or B only — take ONE trade setup per day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529584"/>
            <a:ext cx="11274552" cy="475488"/>
          </a:xfrm>
          <a:prstGeom prst="rect">
            <a:avLst/>
          </a:prstGeom>
          <a:solidFill>
            <a:srgbClr val="12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58444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Day 7    →  Review your journal — did you follow the checklist every time?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53492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FFC300"/>
                </a:solidFill>
              </a:rPr>
              <a:t>"A Virgin CPR is a promise the market has not kept yet — and it always keeps its promises."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0350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Thank You —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